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dd653d78-ce0c-7d5c-4aab-87b83b8530b2}">
          <p14:sldIdLst>
            <p14:sldId id="256"/>
          </p14:sldIdLst>
        </p14:section>
        <p14:section name="Setup" id="{ecb5a14e-1b80-6337-f522-2e6b67d6cf63}">
          <p14:sldIdLst>
            <p14:sldId id="257"/>
            <p14:sldId id="258"/>
          </p14:sldIdLst>
        </p14:section>
        <p14:section name="Findings" id="{3716b8ef-bbfe-ecbf-206a-72f77157cc69}">
          <p14:sldIdLst>
            <p14:sldId id="259"/>
            <p14:sldId id="261"/>
            <p14:sldId id="262"/>
          </p14:sldIdLst>
        </p14:section>
        <p14:section name="Method" id="{23ac4af8-d26b-7f8d-d00f-e626535e8fcd}">
          <p14:sldIdLst>
            <p14:sldId id="260"/>
          </p14:sldIdLst>
        </p14:section>
        <p14:section name="Wrap-up" id="{9d936436-0891-eb6b-ee0f-670bc88b9806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281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4281A"/>
                </a:solidFill>
                <a:latin typeface="+mn-lt"/>
              </a:rPr>
              <a:t>Rule: pick the better record (% correct)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B8453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845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4D2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Season stats from
teamrankings.com</c:v>
                  </c:pt>
                  <c:pt idx="1">
                    <c:v>Regular-season
game log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79.3</c:v>
                </c:pt>
                <c:pt idx="1">
                  <c:v>54.8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28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8A8F7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8F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4D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4D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A8F7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F4D2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F4D2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F4D2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07B39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Better record</c:v>
                  </c:pt>
                  <c:pt idx="1">
                    <c:v>Random forest</c:v>
                  </c:pt>
                  <c:pt idx="2">
                    <c:v>Gradient boosting</c:v>
                  </c:pt>
                  <c:pt idx="3">
                    <c:v>Better rating</c:v>
                  </c:pt>
                  <c:pt idx="4">
                    <c:v>Fwd selection</c:v>
                  </c:pt>
                  <c:pt idx="5">
                    <c:v>Linear</c:v>
                  </c:pt>
                  <c:pt idx="6">
                    <c:v>Logistic</c:v>
                  </c:pt>
                  <c:pt idx="7">
                    <c:v>Ridge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54.8</c:v>
                </c:pt>
                <c:pt idx="1">
                  <c:v>53.9</c:v>
                </c:pt>
                <c:pt idx="2">
                  <c:v>58.1</c:v>
                </c:pt>
                <c:pt idx="3">
                  <c:v>58.4</c:v>
                </c:pt>
                <c:pt idx="4">
                  <c:v>59.3</c:v>
                </c:pt>
                <c:pt idx="5">
                  <c:v>59.6</c:v>
                </c:pt>
                <c:pt idx="6">
                  <c:v>59.6</c:v>
                </c:pt>
                <c:pt idx="7">
                  <c:v>60.4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28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4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8A8F7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8F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FA37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4D2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Least confident
third</c:v>
                  </c:pt>
                  <c:pt idx="1">
                    <c:v>Middle third</c:v>
                  </c:pt>
                  <c:pt idx="2">
                    <c:v>Most confident
third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51.3</c:v>
                </c:pt>
                <c:pt idx="1">
                  <c:v>59.3</c:v>
                </c:pt>
                <c:pt idx="2">
                  <c:v>70.6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28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intro. We predict bowl game winners and a confidence, like the Stanford report. One thing I want to flag early: we found a data leak and rebuilt the pipeline because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pick'em. The margin does two jobs: sign = winner, size = confidence ranking.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log stops mid December, so no bowl information can sneak in. Rating is a ridge regression of capped margins on team indicators plus home field.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slide. Before the fix every model hit 78 to 81 percent, which is far above anything published for bowl games. The check script is leakage_check.py. Cost: we lose yardage and turnover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Models: linear, ridge, forward stepwise (like Stanford), random forest, gradient boosting, logistic, plus better-record and better-rating baselines.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Accuracy under leave-one-season-out CV. Stanford reports 66%, but we cannot tell if their stats were pre-bowl. Ridge was picked after seeing results so it is slightly optimistic.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118 games per third. Low third is basically a coin flip.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run_all.py first if asked about reproducibility, then the predict command. The model for a given season is trained without that season.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5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914400"/>
            <a:ext cx="2011680" cy="2011680"/>
          </a:xfrm>
          <a:prstGeom prst="ellipse">
            <a:avLst/>
          </a:prstGeom>
          <a:solidFill>
            <a:srgbClr val="1F4D2B"/>
          </a:solidFill>
          <a:ln w="38100">
            <a:solidFill>
              <a:srgbClr val="6FA3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69480" y="1417320"/>
            <a:ext cx="1005840" cy="1005840"/>
          </a:xfrm>
          <a:prstGeom prst="ellipse">
            <a:avLst/>
          </a:prstGeom>
          <a:solidFill>
            <a:srgbClr val="14281A"/>
          </a:solidFill>
          <a:ln w="38100">
            <a:solidFill>
              <a:srgbClr val="E07B3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College Football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Bowl Game Predictor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88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07B39"/>
                </a:solidFill>
              </a:rPr>
              <a:t>Who wins, and how sure are we?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404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C4"/>
                </a:solidFill>
              </a:rPr>
              <a:t>UE24CS352A Machine Learning  |  Mini-project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3C4"/>
                </a:solidFill>
              </a:rPr>
              <a:t>Siddhant (PES1UG24AM275) and [teammate]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problem: bowl pick'em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DAC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81A"/>
                </a:solidFill>
              </a:rPr>
              <a:t>Pick a winner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4F"/>
                </a:solidFill>
              </a:rPr>
              <a:t>for every bowl game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32588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DA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1508760"/>
            <a:ext cx="457200" cy="45720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81A"/>
                </a:solidFill>
              </a:rPr>
              <a:t>Rank your confidence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4F"/>
                </a:solidFill>
              </a:rPr>
              <a:t>1 to N, each number used once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32588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DAC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508760"/>
            <a:ext cx="457200" cy="45720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81A"/>
                </a:solidFill>
              </a:rPr>
              <a:t>Score points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4F"/>
                </a:solidFill>
              </a:rPr>
              <a:t>a right pick earns its confidence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81A"/>
                </a:solidFill>
              </a:rPr>
              <a:t>Our model predicts the score margin of team A over team B.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794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D2B"/>
                </a:solidFill>
              </a:rPr>
              <a:t>The sign of the margin is the pick. The size of the margin is the confidence.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AC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07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356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81A"/>
                </a:solidFill>
              </a:rPr>
              <a:t>bowl games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28016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AC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371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07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81A"/>
                </a:solidFill>
              </a:rPr>
              <a:t>seasons, 2003 to 2013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AC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371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07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81A"/>
                </a:solidFill>
              </a:rPr>
              <a:t>features per team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9718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81A"/>
                </a:solidFill>
              </a:rPr>
              <a:t>Features come from regular-season games only: </a:t>
            </a:r>
            <a:pPr indent="0" marL="0">
              <a:buNone/>
            </a:pPr>
            <a:r>
              <a:rPr lang="en-US" sz="1500" dirty="0">
                <a:solidFill>
                  <a:srgbClr val="14281A"/>
                </a:solidFill>
              </a:rPr>
              <a:t>record, points for and against, capped margin, opponent-adjusted rating, strength of schedule, last 4 games.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4281A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4281A"/>
                </a:solidFill>
              </a:rPr>
              <a:t>Sources: </a:t>
            </a:r>
            <a:pPr indent="0" marL="0">
              <a:buNone/>
            </a:pPr>
            <a:r>
              <a:rPr lang="en-US" sz="1500" dirty="0">
                <a:solidFill>
                  <a:srgbClr val="14281A"/>
                </a:solidFill>
              </a:rPr>
              <a:t>game results from sportsdataverse/cfbfastR-data, bowl results from geogunow/CollegeFootballBowlPredictions.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catch: a dataset that cheats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2062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937760" y="137160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B8453A"/>
                </a:solidFill>
              </a:rPr>
              <a:t>375 of 477</a:t>
            </a:r>
            <a:endParaRPr lang="en-US" sz="2400" dirty="0"/>
          </a:p>
          <a:p>
            <a:pPr indent="0" marL="0">
              <a:buNone/>
            </a:pPr>
            <a:r>
              <a:rPr lang="en-US" sz="1400" dirty="0">
                <a:solidFill>
                  <a:srgbClr val="14281A"/>
                </a:solidFill>
              </a:rPr>
              <a:t>bowl teams have a points-per-game that includes the bowl game itself.</a:t>
            </a:r>
            <a:endParaRPr lang="en-US" sz="2400" dirty="0"/>
          </a:p>
          <a:p>
            <a:pPr indent="0" marL="0">
              <a:buNone/>
            </a:pPr>
            <a:r>
              <a:rPr lang="en-US" sz="800" dirty="0">
                <a:solidFill>
                  <a:srgbClr val="14281A"/>
                </a:solidFill>
              </a:rPr>
              <a:t> </a:t>
            </a:r>
            <a:endParaRPr lang="en-US" sz="2400" dirty="0"/>
          </a:p>
          <a:p>
            <a:pPr indent="0" marL="0">
              <a:buNone/>
            </a:pPr>
            <a:r>
              <a:rPr lang="en-US" sz="1400" dirty="0">
                <a:solidFill>
                  <a:srgbClr val="14281A"/>
                </a:solidFill>
              </a:rPr>
              <a:t>A rule this simple should score about 55%, not 79%. So the scraped stats already contain the result.</a:t>
            </a:r>
            <a:endParaRPr lang="en-US" sz="2400" dirty="0"/>
          </a:p>
          <a:p>
            <a:pPr indent="0" marL="0">
              <a:buNone/>
            </a:pPr>
            <a:r>
              <a:rPr lang="en-US" sz="800" dirty="0">
                <a:solidFill>
                  <a:srgbClr val="14281A"/>
                </a:solidFill>
              </a:rPr>
              <a:t> </a:t>
            </a:r>
            <a:endParaRPr lang="en-US" sz="2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4D2B"/>
                </a:solidFill>
              </a:rPr>
              <a:t>We dropped them and rebuilt every feature from regular-season games.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1371600"/>
            <a:ext cx="1508760" cy="17373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DAC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5087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D2B"/>
                </a:solidFill>
              </a:rPr>
              <a:t>Regular-season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4D2B"/>
                </a:solidFill>
              </a:rPr>
              <a:t>games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28600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04F"/>
                </a:solidFill>
              </a:rPr>
              <a:t>scores only,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604F"/>
                </a:solidFill>
              </a:rPr>
              <a:t>before bowls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892808" y="2011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7B39"/>
                </a:solidFill>
              </a:rPr>
              <a:t>&gt;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130552" y="1371600"/>
            <a:ext cx="1508760" cy="17373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DAC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21992" y="15087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D2B"/>
                </a:solidFill>
              </a:rPr>
              <a:t>Team features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221992" y="228600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04F"/>
                </a:solidFill>
              </a:rPr>
              <a:t>7 per team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011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7B39"/>
                </a:solidFill>
              </a:rPr>
              <a:t>&gt;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849624" y="1371600"/>
            <a:ext cx="1508760" cy="17373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DAC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41064" y="15087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D2B"/>
                </a:solidFill>
              </a:rPr>
              <a:t>Difference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41064" y="228600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04F"/>
                </a:solidFill>
              </a:rPr>
              <a:t>team A minus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604F"/>
                </a:solidFill>
              </a:rPr>
              <a:t>team B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330952" y="2011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7B39"/>
                </a:solidFill>
              </a:rPr>
              <a:t>&gt;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568696" y="1371600"/>
            <a:ext cx="1508760" cy="1737360"/>
          </a:xfrm>
          <a:prstGeom prst="roundRect">
            <a:avLst>
              <a:gd name="adj" fmla="val 7273"/>
            </a:avLst>
          </a:prstGeom>
          <a:solidFill>
            <a:srgbClr val="E9F1EA"/>
          </a:solidFill>
          <a:ln w="12700">
            <a:solidFill>
              <a:srgbClr val="E2DAC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0136" y="15087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D2B"/>
                </a:solidFill>
              </a:rPr>
              <a:t>Models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660136" y="228600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04F"/>
                </a:solidFill>
              </a:rPr>
              <a:t>8, incl.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604F"/>
                </a:solidFill>
              </a:rPr>
              <a:t>baselines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050024" y="2011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7B39"/>
                </a:solidFill>
              </a:rPr>
              <a:t>&gt;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287768" y="1371600"/>
            <a:ext cx="1508760" cy="17373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DAC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79208" y="15087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D2B"/>
                </a:solidFill>
              </a:rPr>
              <a:t>Leave one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4D2B"/>
                </a:solidFill>
              </a:rPr>
              <a:t>season out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379208" y="228600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04F"/>
                </a:solidFill>
              </a:rPr>
              <a:t>11 folds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4290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81A"/>
                </a:solidFill>
              </a:rPr>
              <a:t>Antisymmetric: </a:t>
            </a:r>
            <a:pPr indent="0" marL="0">
              <a:buNone/>
            </a:pPr>
            <a:r>
              <a:rPr lang="en-US" sz="1500" dirty="0">
                <a:solidFill>
                  <a:srgbClr val="14281A"/>
                </a:solidFill>
              </a:rPr>
              <a:t>swap the two teams and the prediction flips. No intercept, scaling without centering, mirrored training data.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4281A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4281A"/>
                </a:solidFill>
              </a:rPr>
              <a:t>Honest evaluation: </a:t>
            </a:r>
            <a:pPr indent="0" marL="0">
              <a:buNone/>
            </a:pPr>
            <a:r>
              <a:rPr lang="en-US" sz="1500" dirty="0">
                <a:solidFill>
                  <a:srgbClr val="14281A"/>
                </a:solidFill>
              </a:rPr>
              <a:t>hold out a whole season, train on the other ten, repeat. Wilson 95% intervals on accuracy.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760720" y="128016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07B39"/>
                </a:solidFill>
              </a:rPr>
              <a:t>Ridge: 60.4%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rgbClr val="14281A"/>
                </a:solidFill>
              </a:rPr>
              <a:t>95% CI 55% to 65% on 356 games</a:t>
            </a:r>
            <a:endParaRPr lang="en-US" sz="2200" dirty="0"/>
          </a:p>
          <a:p>
            <a:pPr indent="0" marL="0">
              <a:buNone/>
            </a:pPr>
            <a:r>
              <a:rPr lang="en-US" sz="800" dirty="0">
                <a:solidFill>
                  <a:srgbClr val="14281A"/>
                </a:solidFill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14281A"/>
                </a:solidFill>
              </a:rPr>
              <a:t>About 6 points over "better record", clearly above a coin flip.</a:t>
            </a:r>
            <a:endParaRPr lang="en-US" sz="2200" dirty="0"/>
          </a:p>
          <a:p>
            <a:pPr indent="0" marL="0">
              <a:buNone/>
            </a:pPr>
            <a:r>
              <a:rPr lang="en-US" sz="800" dirty="0">
                <a:solidFill>
                  <a:srgbClr val="14281A"/>
                </a:solidFill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14281A"/>
                </a:solidFill>
              </a:rPr>
              <a:t>But not clearly better than "better rating" (58.4%). Fancier models did not help with this little data.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Confidence is where it pays off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5720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303520" y="1371600"/>
            <a:ext cx="3474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81A"/>
                </a:solidFill>
              </a:rPr>
              <a:t>Games sorted by predicted margin, ridge model.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14281A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4D2B"/>
                </a:solidFill>
              </a:rPr>
              <a:t>Big predicted margins really are safer picks: 71% right vs 51% for the closest calls.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14281A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281A"/>
                </a:solidFill>
              </a:rPr>
              <a:t>That is exactly what pick'em needs: put your high points on the games the model is sure about.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8EEE5"/>
                </a:solidFill>
              </a:rPr>
              <a:t>About 60% on bowl games using only pre-bowl information.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8EEE5"/>
                </a:solidFill>
              </a:rPr>
              <a:t>Leaky season stats made a weak model look like an 80% one.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8EEE5"/>
                </a:solidFill>
              </a:rPr>
              <a:t>Confidence ranking works: 71% on the most confident third.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8EEE5"/>
                </a:solidFill>
              </a:rPr>
              <a:t>Limits: 356 games (+/- 5 points), no yardage or turnover data, no injuries or opt-outs.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8EEE5"/>
                </a:solidFill>
              </a:rPr>
              <a:t>Next: clean per-game box scores, offense vs defense matchups, an upset model.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1F4D2B"/>
          </a:solidFill>
          <a:ln w="12700">
            <a:solidFill>
              <a:srgbClr val="6FA37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3749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B39"/>
                </a:solidFill>
              </a:rPr>
              <a:t>Live demo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src/predict.py --season 2013 --team-a "Florida State" --team-b Auburn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wl Green">
  <a:themeElements>
    <a:clrScheme name="Bowl Green">
      <a:dk1>
        <a:srgbClr val="14281A"/>
      </a:dk1>
      <a:lt1>
        <a:srgbClr val="FFFFFF"/>
      </a:lt1>
      <a:dk2>
        <a:srgbClr val="1F4D2B"/>
      </a:dk2>
      <a:lt2>
        <a:srgbClr val="F5F1E6"/>
      </a:lt2>
      <a:accent1>
        <a:srgbClr val="1F4D2B"/>
      </a:accent1>
      <a:accent2>
        <a:srgbClr val="E07B39"/>
      </a:accent2>
      <a:accent3>
        <a:srgbClr val="6FA37C"/>
      </a:accent3>
      <a:accent4>
        <a:srgbClr val="B8453A"/>
      </a:accent4>
      <a:accent5>
        <a:srgbClr val="8A8F7A"/>
      </a:accent5>
      <a:accent6>
        <a:srgbClr val="D9C9A3"/>
      </a:accent6>
      <a:hlink>
        <a:srgbClr val="1F4D2B"/>
      </a:hlink>
      <a:folHlink>
        <a:srgbClr val="8A8F7A"/>
      </a:folHlink>
    </a:clrScheme>
    <a:fontScheme name="Bowl Gree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Football Bowl Game Predictor</dc:title>
  <dc:subject>PptxGenJS Presentation</dc:subject>
  <dc:creator>PptxGenJS</dc:creator>
  <cp:lastModifiedBy>PptxGenJS</cp:lastModifiedBy>
  <cp:revision>1</cp:revision>
  <dcterms:created xsi:type="dcterms:W3CDTF">2026-10-13T03:27:37Z</dcterms:created>
  <dcterms:modified xsi:type="dcterms:W3CDTF">2026-10-13T03:27:37Z</dcterms:modified>
</cp:coreProperties>
</file>